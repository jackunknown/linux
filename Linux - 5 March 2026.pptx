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940" r:id="rId2"/>
    <p:sldId id="943" r:id="rId3"/>
    <p:sldId id="904" r:id="rId4"/>
    <p:sldId id="944" r:id="rId5"/>
    <p:sldId id="935" r:id="rId6"/>
    <p:sldId id="1121" r:id="rId7"/>
    <p:sldId id="934" r:id="rId8"/>
    <p:sldId id="948" r:id="rId9"/>
    <p:sldId id="936" r:id="rId10"/>
    <p:sldId id="902" r:id="rId11"/>
    <p:sldId id="1252" r:id="rId12"/>
    <p:sldId id="1253" r:id="rId13"/>
    <p:sldId id="794" r:id="rId14"/>
    <p:sldId id="736" r:id="rId15"/>
    <p:sldId id="750" r:id="rId16"/>
    <p:sldId id="737" r:id="rId17"/>
    <p:sldId id="738" r:id="rId18"/>
    <p:sldId id="739" r:id="rId19"/>
    <p:sldId id="740" r:id="rId20"/>
    <p:sldId id="741" r:id="rId21"/>
    <p:sldId id="742" r:id="rId22"/>
    <p:sldId id="743" r:id="rId23"/>
    <p:sldId id="744" r:id="rId24"/>
    <p:sldId id="749" r:id="rId25"/>
    <p:sldId id="745" r:id="rId26"/>
    <p:sldId id="746" r:id="rId27"/>
    <p:sldId id="747" r:id="rId28"/>
    <p:sldId id="74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D0A3-E003-2558-9C62-FEB87269A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3C8A6-96E1-7084-0713-87F581AF9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8471C-46D5-0FB7-A588-5F0ED22B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43FB5-AED3-23F4-B4A6-3C6A9795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77AE6-285C-2672-81F4-5A79F35A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8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EF62-24A4-EDCE-8087-64900EC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4620E-C77A-0278-D9D0-97EC3DBA8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04731-EB1D-38ED-EB2E-3EFFC872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A5348-3EAA-B9D8-BEBC-859F26C4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0BE3C-1CB1-CF30-7576-04380529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131B-3A92-41DE-DA3B-E1585341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376A-A512-8D08-2B82-2D973E135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B6464-6164-482B-A4D5-842B3B24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5202D-5C2A-720E-1359-ACC49C5E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3097C-F01D-9CCC-065A-7D6F8CDA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56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1E20-2002-6285-9038-61D701EB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FDD3-ED3C-843A-4357-DF9BBCA65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1F2B3-7AC9-FF92-12A0-5083D9337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EA60B-105B-51C7-F407-8656E7A9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68F2E-70DB-CD66-FC3F-9836644E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34D4F-E84D-328C-6EB0-98809EE0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3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0BBA-42AF-E966-73B5-B11B3321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14D0E-AD4C-1B18-A51B-B8F7E23B3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ED0CC-AA12-5E2A-C81E-F9964E8E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96D07-D9EB-36AA-E909-420727836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CBF66C-0662-3653-CD38-369699D3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7A830-4FD7-C494-3D0A-A3FBE696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22367-73FA-9B70-5801-D8123FBA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5A4E2-ADDA-BF55-D5AF-B5E0A946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8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C173-0B7E-B913-C542-4F31A2F2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7A8AD-DD2D-4481-D893-3BFB5CBF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9A6ED-11C7-D224-00B3-BE4C26FB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5886E-4455-F445-4ECA-0C06521FA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5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6FC63-2198-C4A5-6751-86A04AD9A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6DDE4-12EA-AD34-2448-1EBED0BA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A87D7-D8F9-7554-8125-654DC638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02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7C06-F647-8F96-1853-7AABAEB6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AC11-DD61-45DC-1A8B-B74453CC5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0B4BB-7F71-4B4D-060B-4AF80B20F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F406-CDBF-7BE0-B267-1291F5206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7BE43-E701-87FF-5815-F6D1FF4B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D5FF8-818F-9C13-1FE7-56FAD73D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73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10C5-D0CE-62C0-EFDD-6A105CC5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61AA1-5D33-1958-BB96-FBCD90F1F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AFF8C-042D-E3D9-C3EA-2F3FB621F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C9556-7B6F-E8CE-A46B-11C5DE2E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4E96-7F60-8B1C-398E-B460C04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E4000-BBAE-45F7-DEB6-58657894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50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8AAF-60B1-4BF2-BA6B-B8B484A8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654E-D9B1-717F-F15D-63DF60D5C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7C274-1764-D04D-59D2-E3BAF547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A088-6D16-3548-0D29-5478F78E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655BC-6DB9-27F7-3999-F473D0B7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86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0EB50-2502-D8A4-E48C-AF20C7E74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51211-CCDC-9896-0F5A-FA7E22FA3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1684C-60F0-1611-AB64-AC960217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3F930-318B-BD50-F847-54AF22A2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BBDDC-492B-B07A-060A-7239A5B8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8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7101C-5619-9354-8392-6EED3BF8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0882-84AF-8F43-5D1E-55183D278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27F23-ED7D-F0F5-87DA-D7738A4DB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FE7C-A84B-47FF-BCDC-2BE5055F8695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4A14B-EB2D-A435-EED2-6129E5D38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84723-281D-74E0-00CD-AA1824725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71FDF-2E5A-49A7-8D35-62EFF893E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91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026A-43E5-E7C4-FFBD-DC216F39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Meta Characters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D14D-8663-8C7C-71F6-475C6B8B6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 characters: Characters that have a special meaning</a:t>
            </a:r>
          </a:p>
          <a:p>
            <a:r>
              <a:rPr lang="en-US" dirty="0"/>
              <a:t>Wildcards: * ? [] </a:t>
            </a:r>
          </a:p>
          <a:p>
            <a:r>
              <a:rPr lang="en-US" dirty="0"/>
              <a:t>Redirection: &gt; &gt;&gt; &lt; | </a:t>
            </a:r>
          </a:p>
          <a:p>
            <a:r>
              <a:rPr lang="en-US" dirty="0"/>
              <a:t>Command substitution: $()</a:t>
            </a:r>
          </a:p>
          <a:p>
            <a:r>
              <a:rPr lang="en-US" dirty="0"/>
              <a:t>Quoting: ‘ “</a:t>
            </a:r>
          </a:p>
          <a:p>
            <a:r>
              <a:rPr lang="en-US" dirty="0"/>
              <a:t>Escape character: \</a:t>
            </a:r>
          </a:p>
          <a:p>
            <a:r>
              <a:rPr lang="en-US" dirty="0"/>
              <a:t>Logical operators: &amp;&amp; ||</a:t>
            </a:r>
          </a:p>
          <a:p>
            <a:r>
              <a:rPr lang="en-US" dirty="0"/>
              <a:t>Background execution: &amp;</a:t>
            </a:r>
          </a:p>
        </p:txBody>
      </p:sp>
    </p:spTree>
    <p:extLst>
      <p:ext uri="{BB962C8B-B14F-4D97-AF65-F5344CB8AC3E}">
        <p14:creationId xmlns:p14="http://schemas.microsoft.com/office/powerpoint/2010/main" val="141703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8F44-9108-D7BE-1B11-B8A92949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A6F9-D07D-9CB7-18CE-BCEE820FB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Ability to manage multiple processes running in a shell session</a:t>
            </a:r>
          </a:p>
          <a:p>
            <a:pPr lvl="1"/>
            <a:r>
              <a:rPr lang="en-US" dirty="0"/>
              <a:t>Start processes in the foreground/background</a:t>
            </a:r>
          </a:p>
          <a:p>
            <a:pPr lvl="1"/>
            <a:r>
              <a:rPr lang="en-US" dirty="0"/>
              <a:t>Pause/suspend and resume processes</a:t>
            </a:r>
          </a:p>
          <a:p>
            <a:pPr lvl="1"/>
            <a:r>
              <a:rPr lang="en-US" dirty="0"/>
              <a:t>Manage multiple processes concurrently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0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26EEE-8F8C-CC3F-FB0A-188CB132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F0FDF-A6AA-BDC1-473D-16BB1832AA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atul@lubuntu</a:t>
            </a:r>
            <a:r>
              <a:rPr lang="en-US" dirty="0"/>
              <a:t>:~$ </a:t>
            </a:r>
            <a:r>
              <a:rPr lang="en-US" b="1" dirty="0"/>
              <a:t>sleep 10</a:t>
            </a:r>
            <a:endParaRPr lang="en-US" dirty="0"/>
          </a:p>
          <a:p>
            <a:r>
              <a:rPr lang="en-US" dirty="0" err="1"/>
              <a:t>atul@lubuntu</a:t>
            </a:r>
            <a:r>
              <a:rPr lang="en-US" dirty="0"/>
              <a:t>:~$ </a:t>
            </a:r>
            <a:r>
              <a:rPr lang="en-US" b="1" dirty="0"/>
              <a:t>sleep 60 &amp;</a:t>
            </a:r>
          </a:p>
          <a:p>
            <a:r>
              <a:rPr lang="en-US" dirty="0"/>
              <a:t>[1] 1150</a:t>
            </a:r>
          </a:p>
          <a:p>
            <a:r>
              <a:rPr lang="en-US" dirty="0" err="1"/>
              <a:t>atul@lubuntu</a:t>
            </a:r>
            <a:r>
              <a:rPr lang="en-US" dirty="0"/>
              <a:t>:~$ </a:t>
            </a:r>
            <a:r>
              <a:rPr lang="en-US" b="1" dirty="0"/>
              <a:t>echo "hello there"</a:t>
            </a:r>
          </a:p>
          <a:p>
            <a:r>
              <a:rPr lang="en-US" dirty="0"/>
              <a:t>hello there</a:t>
            </a:r>
          </a:p>
          <a:p>
            <a:r>
              <a:rPr lang="en-US" dirty="0" err="1"/>
              <a:t>atul@lubuntu</a:t>
            </a:r>
            <a:r>
              <a:rPr lang="en-US" dirty="0"/>
              <a:t>:~$ </a:t>
            </a:r>
            <a:r>
              <a:rPr lang="en-US" b="1" dirty="0"/>
              <a:t>jobs</a:t>
            </a:r>
          </a:p>
          <a:p>
            <a:r>
              <a:rPr lang="en-US" dirty="0"/>
              <a:t>[1]+  Running                 sleep 60 &amp;</a:t>
            </a:r>
          </a:p>
          <a:p>
            <a:r>
              <a:rPr lang="en-US" dirty="0" err="1"/>
              <a:t>atul@lubuntu</a:t>
            </a:r>
            <a:r>
              <a:rPr lang="en-US" dirty="0"/>
              <a:t>:~$ </a:t>
            </a:r>
            <a:r>
              <a:rPr lang="en-US" b="1" dirty="0" err="1"/>
              <a:t>fg</a:t>
            </a:r>
            <a:endParaRPr lang="en-US" b="1" dirty="0"/>
          </a:p>
          <a:p>
            <a:r>
              <a:rPr lang="en-US" dirty="0"/>
              <a:t>sleep 60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08666A-89B1-B535-AD0E-8CCD3D00F5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What are we doing?</a:t>
            </a:r>
          </a:p>
          <a:p>
            <a:r>
              <a:rPr lang="en-US" dirty="0"/>
              <a:t>Start a process in the foreground</a:t>
            </a:r>
          </a:p>
          <a:p>
            <a:r>
              <a:rPr lang="en-US" dirty="0"/>
              <a:t>Then start a process in the background</a:t>
            </a:r>
          </a:p>
          <a:p>
            <a:r>
              <a:rPr lang="en-US" dirty="0"/>
              <a:t>Then run another process in the foreground</a:t>
            </a:r>
          </a:p>
          <a:p>
            <a:r>
              <a:rPr lang="en-US" dirty="0"/>
              <a:t>Check that the background process is still running</a:t>
            </a:r>
          </a:p>
          <a:p>
            <a:r>
              <a:rPr lang="en-US" dirty="0"/>
              <a:t>Finally, bring the background process to the foreground</a:t>
            </a:r>
          </a:p>
        </p:txBody>
      </p:sp>
    </p:spTree>
    <p:extLst>
      <p:ext uri="{BB962C8B-B14F-4D97-AF65-F5344CB8AC3E}">
        <p14:creationId xmlns:p14="http://schemas.microsoft.com/office/powerpoint/2010/main" val="211867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E6FA05-F4B9-B3BA-14FB-F7DA47A2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B4BBF-7CA4-20C2-0304-2847CE89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previously executed shell commands</a:t>
            </a:r>
          </a:p>
          <a:p>
            <a:r>
              <a:rPr lang="en-US" dirty="0"/>
              <a:t>Commands:</a:t>
            </a:r>
          </a:p>
          <a:p>
            <a:r>
              <a:rPr lang="en-US" b="1" dirty="0"/>
              <a:t>history</a:t>
            </a:r>
            <a:r>
              <a:rPr lang="en-US" dirty="0"/>
              <a:t>: Display a list of previously executed commands</a:t>
            </a:r>
          </a:p>
          <a:p>
            <a:r>
              <a:rPr lang="en-US" b="1" dirty="0"/>
              <a:t>!!</a:t>
            </a:r>
            <a:r>
              <a:rPr lang="en-US" dirty="0"/>
              <a:t>: Execute the last command again</a:t>
            </a:r>
          </a:p>
          <a:p>
            <a:r>
              <a:rPr lang="en-US" b="1" dirty="0"/>
              <a:t>!n</a:t>
            </a:r>
            <a:r>
              <a:rPr lang="en-US" dirty="0"/>
              <a:t>: Execute the command with index </a:t>
            </a:r>
            <a:r>
              <a:rPr lang="en-US" i="1" dirty="0"/>
              <a:t>n </a:t>
            </a:r>
            <a:r>
              <a:rPr lang="en-US" dirty="0"/>
              <a:t>from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0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95866-59B1-89E9-4168-A2001AC8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B1A7-1EDD-9DDC-0CFE-2805ED0A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 err="1"/>
              <a:t>chown</a:t>
            </a:r>
            <a:r>
              <a:rPr lang="en-IN" b="1" dirty="0"/>
              <a:t> </a:t>
            </a:r>
            <a:r>
              <a:rPr lang="en-IN" dirty="0"/>
              <a:t>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4CCB-F65E-D348-0195-87A146046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tx1">
                    <a:lumMod val="95000"/>
                  </a:schemeClr>
                </a:solidFill>
                <a:highlight>
                  <a:scrgbClr r="0" g="0" b="0">
                    <a:alpha val="0"/>
                  </a:scrgbClr>
                </a:highlight>
              </a:rPr>
              <a:t>Change ownership of files/directories</a:t>
            </a:r>
          </a:p>
          <a:p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user:group</a:t>
            </a:r>
            <a:r>
              <a:rPr lang="en-IN" dirty="0"/>
              <a:t> filename – Change owner and group</a:t>
            </a:r>
          </a:p>
          <a:p>
            <a:r>
              <a:rPr lang="en-IN" dirty="0" err="1"/>
              <a:t>chown</a:t>
            </a:r>
            <a:r>
              <a:rPr lang="en-IN" dirty="0"/>
              <a:t> user filename – Change only owner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  <a:highlight>
                  <a:scrgbClr r="0" g="0" b="0">
                    <a:alpha val="0"/>
                  </a:scrgbClr>
                </a:highlight>
              </a:rPr>
              <a:t>Examples:</a:t>
            </a:r>
          </a:p>
          <a:p>
            <a:pPr lvl="1"/>
            <a:r>
              <a:rPr lang="en-US" dirty="0" err="1"/>
              <a:t>chown</a:t>
            </a:r>
            <a:r>
              <a:rPr lang="en-US" dirty="0"/>
              <a:t> user1 example.txt</a:t>
            </a:r>
          </a:p>
          <a:p>
            <a:pPr lvl="1"/>
            <a:r>
              <a:rPr lang="en-US" dirty="0" err="1"/>
              <a:t>chown</a:t>
            </a:r>
            <a:r>
              <a:rPr lang="en-US" dirty="0"/>
              <a:t> user1:group1 example.txt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268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E6AE-17E4-7EA8-3CAE-336AE309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75EAF-1697-07D5-DBA8-2B5019DC1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file cdac.txt</a:t>
            </a:r>
          </a:p>
          <a:p>
            <a:r>
              <a:rPr lang="en-US" dirty="0"/>
              <a:t>Change the default permission of the file cdac.txt: </a:t>
            </a:r>
          </a:p>
          <a:p>
            <a:pPr lvl="1"/>
            <a:r>
              <a:rPr lang="en-US" dirty="0"/>
              <a:t>owner/user should have read, write, and execute permissions</a:t>
            </a:r>
          </a:p>
          <a:p>
            <a:pPr lvl="1"/>
            <a:r>
              <a:rPr lang="en-US" dirty="0"/>
              <a:t>group should only read and execute permissions</a:t>
            </a:r>
          </a:p>
          <a:p>
            <a:pPr lvl="1"/>
            <a:r>
              <a:rPr lang="en-US" dirty="0"/>
              <a:t>others should have no permissions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27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0A96-B4DB-D827-54BC-9BD74574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Access Control List (ACL)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5A837-7F96-6B57-3744-11F62D22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Access Control List (ACL)</a:t>
            </a:r>
            <a:r>
              <a:rPr lang="en-US" dirty="0"/>
              <a:t>: More fine-grained permissions that </a:t>
            </a:r>
            <a:r>
              <a:rPr lang="en-US" dirty="0" err="1"/>
              <a:t>rwx</a:t>
            </a:r>
            <a:endParaRPr lang="en-US" dirty="0"/>
          </a:p>
          <a:p>
            <a:r>
              <a:rPr lang="en-US" dirty="0"/>
              <a:t>Grant/deny permissions to specific users/groups</a:t>
            </a:r>
          </a:p>
          <a:p>
            <a:r>
              <a:rPr lang="en-US" dirty="0"/>
              <a:t>View the ACL of a file: </a:t>
            </a:r>
            <a:r>
              <a:rPr lang="en-US" i="1" dirty="0" err="1"/>
              <a:t>getfacl</a:t>
            </a:r>
            <a:r>
              <a:rPr lang="en-US" i="1" dirty="0"/>
              <a:t> file1</a:t>
            </a:r>
          </a:p>
          <a:p>
            <a:r>
              <a:rPr lang="en-US" dirty="0"/>
              <a:t>Set ACL: </a:t>
            </a:r>
            <a:r>
              <a:rPr lang="en-US" i="1" dirty="0" err="1"/>
              <a:t>setfacl</a:t>
            </a:r>
            <a:r>
              <a:rPr lang="en-US" i="1" dirty="0"/>
              <a:t> -m u:user1:rwx file1 </a:t>
            </a:r>
            <a:r>
              <a:rPr lang="en-US" dirty="0"/>
              <a:t>… Give </a:t>
            </a:r>
            <a:r>
              <a:rPr lang="en-US" dirty="0" err="1"/>
              <a:t>rwx</a:t>
            </a:r>
            <a:r>
              <a:rPr lang="en-US" dirty="0"/>
              <a:t> to user1 for file1</a:t>
            </a:r>
          </a:p>
          <a:p>
            <a:r>
              <a:rPr lang="en-US" dirty="0"/>
              <a:t>Set ACL: </a:t>
            </a:r>
            <a:r>
              <a:rPr lang="en-US" i="1" dirty="0" err="1"/>
              <a:t>setfacl</a:t>
            </a:r>
            <a:r>
              <a:rPr lang="en-US" i="1" dirty="0"/>
              <a:t> -m g:group1:rwx file1 </a:t>
            </a:r>
            <a:r>
              <a:rPr lang="en-US" dirty="0"/>
              <a:t>… Give </a:t>
            </a:r>
            <a:r>
              <a:rPr lang="en-US" dirty="0" err="1"/>
              <a:t>rwx</a:t>
            </a:r>
            <a:r>
              <a:rPr lang="en-US" dirty="0"/>
              <a:t> to group1 for file1</a:t>
            </a:r>
          </a:p>
          <a:p>
            <a:r>
              <a:rPr lang="en-US" dirty="0"/>
              <a:t>Remove ACL: </a:t>
            </a:r>
            <a:r>
              <a:rPr lang="en-US" i="1" dirty="0" err="1"/>
              <a:t>setfacl</a:t>
            </a:r>
            <a:r>
              <a:rPr lang="en-US" i="1" dirty="0"/>
              <a:t> -x u:user1 file1</a:t>
            </a:r>
          </a:p>
        </p:txBody>
      </p:sp>
    </p:spTree>
    <p:extLst>
      <p:ext uri="{BB962C8B-B14F-4D97-AF65-F5344CB8AC3E}">
        <p14:creationId xmlns:p14="http://schemas.microsoft.com/office/powerpoint/2010/main" val="130993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00F2-A086-4C9F-9A6F-E1187064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652C-FF4F-EF0E-B956-B90E1C56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F6E91-594E-39E5-5EFE-58862CD76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Problem: Login as root, create a file '</a:t>
            </a:r>
            <a:r>
              <a:rPr lang="en-US" dirty="0" err="1"/>
              <a:t>filewithacl</a:t>
            </a:r>
            <a:r>
              <a:rPr lang="en-US" dirty="0"/>
              <a:t>' and apply </a:t>
            </a:r>
            <a:r>
              <a:rPr lang="en-US" dirty="0" err="1"/>
              <a:t>acl</a:t>
            </a:r>
            <a:r>
              <a:rPr lang="en-US" dirty="0"/>
              <a:t> on it in such a way that only user5 is able to read and write in to it. Note: root will do all its work under '</a:t>
            </a:r>
            <a:r>
              <a:rPr lang="en-US" dirty="0" err="1"/>
              <a:t>dbda</a:t>
            </a:r>
            <a:r>
              <a:rPr lang="en-US" dirty="0"/>
              <a:t>' folder.</a:t>
            </a:r>
          </a:p>
          <a:p>
            <a:r>
              <a:rPr lang="en-US" dirty="0"/>
              <a:t>Solution: </a:t>
            </a:r>
          </a:p>
          <a:p>
            <a:r>
              <a:rPr lang="en-US" b="1" dirty="0" err="1"/>
              <a:t>su</a:t>
            </a:r>
            <a:r>
              <a:rPr lang="en-US" b="1" dirty="0"/>
              <a:t> root</a:t>
            </a:r>
          </a:p>
          <a:p>
            <a:r>
              <a:rPr lang="en-US" b="1" dirty="0"/>
              <a:t>cd /path/to/</a:t>
            </a:r>
            <a:r>
              <a:rPr lang="en-US" b="1" dirty="0" err="1"/>
              <a:t>dbda</a:t>
            </a:r>
            <a:endParaRPr lang="en-US" b="1" dirty="0"/>
          </a:p>
          <a:p>
            <a:r>
              <a:rPr lang="en-US" b="1" dirty="0"/>
              <a:t>touch </a:t>
            </a:r>
            <a:r>
              <a:rPr lang="en-US" b="1" dirty="0" err="1"/>
              <a:t>filewithacl</a:t>
            </a:r>
            <a:endParaRPr lang="en-US" b="1" dirty="0"/>
          </a:p>
          <a:p>
            <a:r>
              <a:rPr lang="en-US" b="1" dirty="0" err="1"/>
              <a:t>setfacl</a:t>
            </a:r>
            <a:r>
              <a:rPr lang="en-US" b="1" dirty="0"/>
              <a:t> -x u:: </a:t>
            </a:r>
            <a:r>
              <a:rPr lang="en-US" b="1" dirty="0" err="1"/>
              <a:t>filewithacl</a:t>
            </a:r>
            <a:r>
              <a:rPr lang="en-US" b="1" dirty="0"/>
              <a:t>  </a:t>
            </a:r>
            <a:r>
              <a:rPr lang="en-US" dirty="0"/>
              <a:t># Remove any existing ACLs for other users</a:t>
            </a:r>
          </a:p>
          <a:p>
            <a:r>
              <a:rPr lang="en-US" b="1" dirty="0" err="1"/>
              <a:t>setfacl</a:t>
            </a:r>
            <a:r>
              <a:rPr lang="en-US" b="1" dirty="0"/>
              <a:t> -m u:user5:rw </a:t>
            </a:r>
            <a:r>
              <a:rPr lang="en-US" b="1" dirty="0" err="1"/>
              <a:t>filewithacl</a:t>
            </a:r>
            <a:r>
              <a:rPr lang="en-US" b="1" dirty="0"/>
              <a:t>  </a:t>
            </a:r>
            <a:r>
              <a:rPr lang="en-US" dirty="0"/>
              <a:t># Grant read and write permissions to user5</a:t>
            </a:r>
          </a:p>
          <a:p>
            <a:r>
              <a:rPr lang="en-US" b="1" dirty="0" err="1"/>
              <a:t>setfacl</a:t>
            </a:r>
            <a:r>
              <a:rPr lang="en-US" b="1" dirty="0"/>
              <a:t> -m o::--- </a:t>
            </a:r>
            <a:r>
              <a:rPr lang="en-US" b="1" dirty="0" err="1"/>
              <a:t>filewithacl</a:t>
            </a:r>
            <a:r>
              <a:rPr lang="en-US" b="1" dirty="0"/>
              <a:t>  </a:t>
            </a:r>
            <a:r>
              <a:rPr lang="en-US" dirty="0"/>
              <a:t># Deny all other users read and write permissions</a:t>
            </a:r>
          </a:p>
        </p:txBody>
      </p:sp>
    </p:spTree>
    <p:extLst>
      <p:ext uri="{BB962C8B-B14F-4D97-AF65-F5344CB8AC3E}">
        <p14:creationId xmlns:p14="http://schemas.microsoft.com/office/powerpoint/2010/main" val="379483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C9BA-2FD7-F4F3-264B-60FC2A90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mount and unmount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47FD-DF28-E990-D97F-700D8797C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mount</a:t>
            </a:r>
            <a:r>
              <a:rPr lang="en-US" dirty="0"/>
              <a:t>: Attach a file system stored on a device such as HDD to a directory (also called mount point), so that the user can access it</a:t>
            </a:r>
          </a:p>
          <a:p>
            <a:r>
              <a:rPr lang="en-US" dirty="0"/>
              <a:t>Example: </a:t>
            </a:r>
            <a:r>
              <a:rPr lang="en-US" dirty="0" err="1"/>
              <a:t>sudo</a:t>
            </a:r>
            <a:r>
              <a:rPr lang="en-US" dirty="0"/>
              <a:t> mount /dev/sdb1 /</a:t>
            </a:r>
            <a:r>
              <a:rPr lang="en-US" dirty="0" err="1"/>
              <a:t>mnt</a:t>
            </a:r>
            <a:r>
              <a:rPr lang="en-US" dirty="0"/>
              <a:t>/external</a:t>
            </a:r>
          </a:p>
          <a:p>
            <a:r>
              <a:rPr lang="en-US" dirty="0"/>
              <a:t>This command mounts the filesystem from /dev/sdb1 to the directory /</a:t>
            </a:r>
            <a:r>
              <a:rPr lang="en-US" dirty="0" err="1"/>
              <a:t>mnt</a:t>
            </a:r>
            <a:r>
              <a:rPr lang="en-US" dirty="0"/>
              <a:t>/external</a:t>
            </a:r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b="1" dirty="0"/>
              <a:t>unmount</a:t>
            </a:r>
            <a:r>
              <a:rPr lang="en-US" dirty="0"/>
              <a:t> /</a:t>
            </a:r>
            <a:r>
              <a:rPr lang="en-US" dirty="0" err="1"/>
              <a:t>mnt</a:t>
            </a:r>
            <a:r>
              <a:rPr lang="en-US" dirty="0"/>
              <a:t>/external … To remove the mounted filesystem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89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0B70-6842-7790-FAF6-D7544B0C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Global Regular Expression Print (grep)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1229A-E02A-81A2-A73E-6D4FFC112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specific patterns (</a:t>
            </a:r>
            <a:r>
              <a:rPr lang="en-US" b="1" dirty="0"/>
              <a:t>regular expressions</a:t>
            </a:r>
            <a:r>
              <a:rPr lang="en-US" dirty="0"/>
              <a:t>) in text</a:t>
            </a:r>
          </a:p>
          <a:p>
            <a:r>
              <a:rPr lang="en-US" b="1" dirty="0"/>
              <a:t>grep CDAC hello.txt </a:t>
            </a:r>
            <a:r>
              <a:rPr lang="en-US" dirty="0"/>
              <a:t>Search for the word CDAC in hello.txt file</a:t>
            </a:r>
          </a:p>
          <a:p>
            <a:r>
              <a:rPr lang="en-US" b="1" dirty="0"/>
              <a:t>ls | grep </a:t>
            </a:r>
            <a:r>
              <a:rPr lang="en-US" b="1" dirty="0" err="1"/>
              <a:t>ct</a:t>
            </a:r>
            <a:r>
              <a:rPr lang="en-US" b="1" dirty="0"/>
              <a:t> </a:t>
            </a:r>
            <a:r>
              <a:rPr lang="en-US" dirty="0"/>
              <a:t>List files whose name contains </a:t>
            </a:r>
            <a:r>
              <a:rPr lang="en-US" dirty="0" err="1"/>
              <a:t>ct</a:t>
            </a:r>
            <a:r>
              <a:rPr lang="en-US" dirty="0"/>
              <a:t> anywhere</a:t>
            </a:r>
          </a:p>
          <a:p>
            <a:r>
              <a:rPr lang="en-US" b="1" dirty="0"/>
              <a:t>ls | grep ^Pi </a:t>
            </a:r>
            <a:r>
              <a:rPr lang="en-US" dirty="0"/>
              <a:t>List files whose name starts with Pi</a:t>
            </a:r>
          </a:p>
          <a:p>
            <a:r>
              <a:rPr lang="en-US" b="1" dirty="0"/>
              <a:t>ls | grep es$ </a:t>
            </a:r>
            <a:r>
              <a:rPr lang="en-US" dirty="0"/>
              <a:t>List files whose name ends with 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87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43FE-6212-9243-188F-FADC1A6C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grep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DABAA0-35B9-EE0D-8DE0-4FEE29F9BE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5695" y="1507991"/>
          <a:ext cx="10515597" cy="4754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1606">
                  <a:extLst>
                    <a:ext uri="{9D8B030D-6E8A-4147-A177-3AD203B41FA5}">
                      <a16:colId xmlns:a16="http://schemas.microsoft.com/office/drawing/2014/main" val="1071679729"/>
                    </a:ext>
                  </a:extLst>
                </a:gridCol>
                <a:gridCol w="4995512">
                  <a:extLst>
                    <a:ext uri="{9D8B030D-6E8A-4147-A177-3AD203B41FA5}">
                      <a16:colId xmlns:a16="http://schemas.microsoft.com/office/drawing/2014/main" val="3643043055"/>
                    </a:ext>
                  </a:extLst>
                </a:gridCol>
                <a:gridCol w="4298479">
                  <a:extLst>
                    <a:ext uri="{9D8B030D-6E8A-4147-A177-3AD203B41FA5}">
                      <a16:colId xmlns:a16="http://schemas.microsoft.com/office/drawing/2014/main" val="2927309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27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</a:t>
                      </a:r>
                      <a:r>
                        <a:rPr lang="en-IN" sz="2400" dirty="0" err="1"/>
                        <a:t>i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Ignore case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400" dirty="0"/>
                        <a:t>grep -i "linux" file.txt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352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Invert match (Show lines that to not match)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400" dirty="0"/>
                        <a:t>grep -v "error" file.txt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94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Count number of matching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grep -c "success" file.txt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27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Show line numbers for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grep -n "warning" file.txt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476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Lowercase L … Show only file names with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grep -l "failed" *.log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541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Match whole words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400" dirty="0"/>
                        <a:t>grep -w "hello" file.txt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86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Recursive search in directories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grep -r "TODO" /path/to/dir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564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68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2C29-42F4-1B68-940C-8F01338D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911E7-1E36-DD0A-4535-498CBBBEE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grep   -</a:t>
            </a:r>
            <a:r>
              <a:rPr lang="en-IN" dirty="0" err="1"/>
              <a:t>i</a:t>
            </a:r>
            <a:r>
              <a:rPr lang="en-IN" dirty="0"/>
              <a:t>   "</a:t>
            </a:r>
            <a:r>
              <a:rPr lang="en-IN" dirty="0" err="1"/>
              <a:t>gatsby</a:t>
            </a:r>
            <a:r>
              <a:rPr lang="en-IN" dirty="0"/>
              <a:t>"   greatgatsby.txt</a:t>
            </a:r>
          </a:p>
          <a:p>
            <a:r>
              <a:rPr lang="en-IN" dirty="0"/>
              <a:t>grep   -v   "</a:t>
            </a:r>
            <a:r>
              <a:rPr lang="en-IN" dirty="0" err="1"/>
              <a:t>gatsby</a:t>
            </a:r>
            <a:r>
              <a:rPr lang="en-IN" dirty="0"/>
              <a:t>"   greatgatsby.txt</a:t>
            </a:r>
          </a:p>
          <a:p>
            <a:r>
              <a:rPr lang="en-US" dirty="0"/>
              <a:t>grep   -c   "party"   greatgatsby.txt</a:t>
            </a:r>
          </a:p>
          <a:p>
            <a:r>
              <a:rPr lang="en-US" dirty="0"/>
              <a:t>grep   -n   "daisy"   greatgatsby.txt</a:t>
            </a:r>
          </a:p>
          <a:p>
            <a:r>
              <a:rPr lang="en-US" dirty="0"/>
              <a:t>grep   -l   "Nick"   greatgatsby.txt</a:t>
            </a:r>
          </a:p>
          <a:p>
            <a:r>
              <a:rPr lang="en-US" dirty="0"/>
              <a:t>grep   -w   "party"   greatgatsby.txt</a:t>
            </a:r>
          </a:p>
          <a:p>
            <a:r>
              <a:rPr lang="en-US" dirty="0"/>
              <a:t>grep   -r   "</a:t>
            </a:r>
            <a:r>
              <a:rPr lang="en-US" dirty="0" err="1"/>
              <a:t>gatsby</a:t>
            </a:r>
            <a:r>
              <a:rPr lang="en-US" dirty="0"/>
              <a:t>"   novels/*.txt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814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9355-E31D-72C2-BBCB-BADFD8AF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D6C90-C01F-88BB-CDE1-9EF4469FD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Search for files and directories</a:t>
            </a:r>
          </a:p>
          <a:p>
            <a:r>
              <a:rPr lang="en-US" dirty="0"/>
              <a:t>Find a file based on its name: </a:t>
            </a:r>
            <a:r>
              <a:rPr lang="en-US" b="1" dirty="0"/>
              <a:t>find -name one.txt</a:t>
            </a:r>
          </a:p>
          <a:p>
            <a:r>
              <a:rPr lang="en-US" dirty="0"/>
              <a:t>Find all files with extension .txt: </a:t>
            </a:r>
            <a:r>
              <a:rPr lang="en-US" b="1" dirty="0"/>
              <a:t>find -type f  -name "*.txt“</a:t>
            </a:r>
          </a:p>
          <a:p>
            <a:r>
              <a:rPr lang="en-US" dirty="0"/>
              <a:t>Find all files with size &gt; 10kb: </a:t>
            </a:r>
            <a:r>
              <a:rPr lang="en-US" b="1" dirty="0"/>
              <a:t>find -type f  -size +10k</a:t>
            </a:r>
          </a:p>
          <a:p>
            <a:r>
              <a:rPr lang="en-US" dirty="0"/>
              <a:t>Same, but also see the actual size &gt; 10kb: </a:t>
            </a:r>
            <a:r>
              <a:rPr lang="en-US" b="1" dirty="0"/>
              <a:t>find -type f  -size +10k –ls</a:t>
            </a:r>
          </a:p>
          <a:p>
            <a:r>
              <a:rPr lang="en-US" dirty="0"/>
              <a:t>Find directories with permission 755: </a:t>
            </a:r>
            <a:r>
              <a:rPr lang="en-US" b="1" dirty="0"/>
              <a:t>find -type d  -perm 755 -ls</a:t>
            </a:r>
          </a:p>
        </p:txBody>
      </p:sp>
    </p:spTree>
    <p:extLst>
      <p:ext uri="{BB962C8B-B14F-4D97-AF65-F5344CB8AC3E}">
        <p14:creationId xmlns:p14="http://schemas.microsoft.com/office/powerpoint/2010/main" val="1467756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A1321-9B14-D464-D065-7CCEE2DB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FTP, Telnet, etc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EBA85-B1B0-1FB6-CBBD-4245DA673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66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C33699-91FE-A90B-7F8A-AA011E63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FTP Concept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6E9566-8C1F-B3F2-3AB2-BA167D49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FTP (File Transfer Protocol) - Tech-FAQ">
            <a:extLst>
              <a:ext uri="{FF2B5EF4-FFF2-40B4-BE49-F238E27FC236}">
                <a16:creationId xmlns:a16="http://schemas.microsoft.com/office/drawing/2014/main" id="{1903B3F0-4940-4343-B62D-17E8B7E8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473" y="1408347"/>
            <a:ext cx="8081053" cy="4435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19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3CC40-18BE-1D05-F084-D97E6AB6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FTP (File Transfer Protocol)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4FDDA-D9D0-F4AF-C4D9-D7F1B785D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One of the earliest Internet protocols for file transfers</a:t>
            </a:r>
          </a:p>
          <a:p>
            <a:r>
              <a:rPr lang="en-IN" dirty="0"/>
              <a:t>Allows downloading (server-to-client) or uploading (client-to-server) of files remotely</a:t>
            </a:r>
          </a:p>
          <a:p>
            <a:r>
              <a:rPr lang="en-IN" dirty="0"/>
              <a:t>Made up of two parts</a:t>
            </a:r>
          </a:p>
          <a:p>
            <a:pPr lvl="1"/>
            <a:r>
              <a:rPr lang="en-IN" dirty="0"/>
              <a:t>FTP server: Has files that can be downloaded, or it can also receive files from the users</a:t>
            </a:r>
          </a:p>
          <a:p>
            <a:pPr lvl="1"/>
            <a:r>
              <a:rPr lang="en-IN" dirty="0"/>
              <a:t>FTP client: Downloads the require files from an FTP server, or it can upload files to  the FTP server also</a:t>
            </a:r>
          </a:p>
        </p:txBody>
      </p:sp>
    </p:spTree>
    <p:extLst>
      <p:ext uri="{BB962C8B-B14F-4D97-AF65-F5344CB8AC3E}">
        <p14:creationId xmlns:p14="http://schemas.microsoft.com/office/powerpoint/2010/main" val="191079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EC75-6D4E-C7D7-98BA-14AA38DE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FTP Server on Ubuntu (on VirtualBox)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FA28-FE78-87D0-FBF3-EA21FF1C8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Step 1: A common open-source FTP utility used in Ubuntu is </a:t>
            </a:r>
            <a:r>
              <a:rPr lang="en-IN" dirty="0" err="1"/>
              <a:t>vsftpd</a:t>
            </a:r>
            <a:r>
              <a:rPr lang="en-IN" dirty="0"/>
              <a:t>.</a:t>
            </a:r>
          </a:p>
          <a:p>
            <a:r>
              <a:rPr lang="en-IN" b="1" dirty="0" err="1"/>
              <a:t>sudo</a:t>
            </a:r>
            <a:r>
              <a:rPr lang="en-IN" b="1" dirty="0"/>
              <a:t> apt install </a:t>
            </a:r>
            <a:r>
              <a:rPr lang="en-IN" b="1" dirty="0" err="1"/>
              <a:t>vsftpd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Step 2: Start the FTP server</a:t>
            </a:r>
          </a:p>
          <a:p>
            <a:r>
              <a:rPr lang="en-IN" b="1" dirty="0" err="1"/>
              <a:t>sudo</a:t>
            </a:r>
            <a:r>
              <a:rPr lang="en-IN" b="1" dirty="0"/>
              <a:t> </a:t>
            </a:r>
            <a:r>
              <a:rPr lang="en-IN" b="1" dirty="0" err="1"/>
              <a:t>systemctl</a:t>
            </a:r>
            <a:r>
              <a:rPr lang="en-IN" b="1" dirty="0"/>
              <a:t> start </a:t>
            </a:r>
            <a:r>
              <a:rPr lang="en-IN" b="1" dirty="0" err="1"/>
              <a:t>vsftpd</a:t>
            </a:r>
            <a:endParaRPr lang="en-IN" b="1" dirty="0"/>
          </a:p>
          <a:p>
            <a:endParaRPr lang="en-IN" b="1" dirty="0"/>
          </a:p>
          <a:p>
            <a:r>
              <a:rPr lang="en-IN" dirty="0"/>
              <a:t>Step 3: Check status</a:t>
            </a:r>
          </a:p>
          <a:p>
            <a:r>
              <a:rPr lang="en-IN" b="1" dirty="0" err="1"/>
              <a:t>sudo</a:t>
            </a:r>
            <a:r>
              <a:rPr lang="en-IN" b="1" dirty="0"/>
              <a:t> </a:t>
            </a:r>
            <a:r>
              <a:rPr lang="en-IN" b="1" dirty="0" err="1"/>
              <a:t>systemctl</a:t>
            </a:r>
            <a:r>
              <a:rPr lang="en-IN" b="1" dirty="0"/>
              <a:t> status </a:t>
            </a:r>
            <a:r>
              <a:rPr lang="en-IN" b="1" dirty="0" err="1"/>
              <a:t>vsftpd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Step 4: Backup configuration files for safety</a:t>
            </a:r>
          </a:p>
          <a:p>
            <a:r>
              <a:rPr lang="en-IN" b="1" dirty="0" err="1"/>
              <a:t>sudo</a:t>
            </a:r>
            <a:r>
              <a:rPr lang="en-IN" b="1" dirty="0"/>
              <a:t> cp    /etc/</a:t>
            </a:r>
            <a:r>
              <a:rPr lang="en-IN" b="1" dirty="0" err="1"/>
              <a:t>vsftpd.conf</a:t>
            </a:r>
            <a:r>
              <a:rPr lang="en-IN" b="1" dirty="0"/>
              <a:t>        /etc/</a:t>
            </a:r>
            <a:r>
              <a:rPr lang="en-IN" b="1" dirty="0" err="1"/>
              <a:t>vsftpd.conf_default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33287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EC75-6D4E-C7D7-98BA-14AA38DE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FTP Server on Ubuntu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FA28-FE78-87D0-FBF3-EA21FF1C8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Step 4: Create an FTP user, so that a client can access the FTP server</a:t>
            </a:r>
          </a:p>
          <a:p>
            <a:r>
              <a:rPr lang="en-IN" b="1" dirty="0" err="1"/>
              <a:t>sudo</a:t>
            </a:r>
            <a:r>
              <a:rPr lang="en-IN" b="1" dirty="0"/>
              <a:t> 	</a:t>
            </a:r>
            <a:r>
              <a:rPr lang="en-IN" b="1" dirty="0" err="1"/>
              <a:t>useradd</a:t>
            </a:r>
            <a:r>
              <a:rPr lang="en-IN" b="1" dirty="0"/>
              <a:t> 	-m 	</a:t>
            </a:r>
            <a:r>
              <a:rPr lang="en-IN" b="1" dirty="0" err="1"/>
              <a:t>testuser</a:t>
            </a:r>
            <a:endParaRPr lang="en-IN" b="1" dirty="0"/>
          </a:p>
          <a:p>
            <a:r>
              <a:rPr lang="en-IN" b="1" dirty="0" err="1"/>
              <a:t>sudo</a:t>
            </a:r>
            <a:r>
              <a:rPr lang="en-IN" b="1" dirty="0"/>
              <a:t> 		passwd 	</a:t>
            </a:r>
            <a:r>
              <a:rPr lang="en-IN" b="1" dirty="0" err="1"/>
              <a:t>testuser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Step 5: Allow FTP through the firewall</a:t>
            </a:r>
          </a:p>
          <a:p>
            <a:r>
              <a:rPr lang="en-IN" b="1" dirty="0" err="1"/>
              <a:t>sudo</a:t>
            </a:r>
            <a:r>
              <a:rPr lang="en-IN" b="1" dirty="0"/>
              <a:t> 		</a:t>
            </a:r>
            <a:r>
              <a:rPr lang="en-IN" b="1" dirty="0" err="1"/>
              <a:t>ufw</a:t>
            </a:r>
            <a:r>
              <a:rPr lang="en-IN" b="1" dirty="0"/>
              <a:t> 	allow 	20/</a:t>
            </a:r>
            <a:r>
              <a:rPr lang="en-IN" b="1" dirty="0" err="1"/>
              <a:t>tcp</a:t>
            </a:r>
            <a:endParaRPr lang="en-IN" b="1" dirty="0"/>
          </a:p>
          <a:p>
            <a:r>
              <a:rPr lang="en-IN" b="1" dirty="0" err="1"/>
              <a:t>sudo</a:t>
            </a:r>
            <a:r>
              <a:rPr lang="en-IN" b="1" dirty="0"/>
              <a:t> 		</a:t>
            </a:r>
            <a:r>
              <a:rPr lang="en-IN" b="1" dirty="0" err="1"/>
              <a:t>ufw</a:t>
            </a:r>
            <a:r>
              <a:rPr lang="en-IN" b="1" dirty="0"/>
              <a:t> 	allow 	21/</a:t>
            </a:r>
            <a:r>
              <a:rPr lang="en-IN" b="1" dirty="0" err="1"/>
              <a:t>tcp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Step 6: Connect to the FTP server locally</a:t>
            </a:r>
          </a:p>
          <a:p>
            <a:r>
              <a:rPr lang="en-IN" b="1" dirty="0" err="1"/>
              <a:t>sudo</a:t>
            </a:r>
            <a:r>
              <a:rPr lang="en-IN" b="1" dirty="0"/>
              <a:t>   ftp    </a:t>
            </a:r>
            <a:r>
              <a:rPr lang="en-IN" b="1" dirty="0">
                <a:highlight>
                  <a:srgbClr val="FFFF00"/>
                </a:highlight>
              </a:rPr>
              <a:t>Ubuntu</a:t>
            </a:r>
          </a:p>
          <a:p>
            <a:r>
              <a:rPr lang="en-IN" dirty="0"/>
              <a:t>(Here, Ubuntu is considered to be our Linux machine name, so replace it with the actual machine name … Find it using the command </a:t>
            </a:r>
            <a:r>
              <a:rPr lang="en-IN" b="1" dirty="0"/>
              <a:t>echo $HOSTNAME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9329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BAB7-188B-4292-A9D0-DF624751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the FTP Server from our Windows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72D9-5C38-99E4-F878-AC1C326A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Open command prompt and type </a:t>
            </a:r>
            <a:r>
              <a:rPr lang="en-IN" b="1" dirty="0">
                <a:solidFill>
                  <a:srgbClr val="00B0F0"/>
                </a:solidFill>
              </a:rPr>
              <a:t>ftp</a:t>
            </a:r>
          </a:p>
          <a:p>
            <a:r>
              <a:rPr lang="en-IN" dirty="0"/>
              <a:t>ftp&gt; </a:t>
            </a:r>
            <a:r>
              <a:rPr lang="en-IN" b="1" dirty="0">
                <a:solidFill>
                  <a:srgbClr val="00B0F0"/>
                </a:solidFill>
              </a:rPr>
              <a:t>open</a:t>
            </a:r>
          </a:p>
          <a:p>
            <a:r>
              <a:rPr lang="en-IN" dirty="0"/>
              <a:t>To </a:t>
            </a:r>
            <a:r>
              <a:rPr lang="en-IN" dirty="0">
                <a:solidFill>
                  <a:srgbClr val="00B0F0"/>
                </a:solidFill>
              </a:rPr>
              <a:t>192.168.0.24</a:t>
            </a:r>
            <a:r>
              <a:rPr lang="en-IN" dirty="0"/>
              <a:t>     … This is the IP address of the Ubuntu machine – to find it, we can type </a:t>
            </a:r>
            <a:r>
              <a:rPr lang="en-IN" i="1" dirty="0" err="1"/>
              <a:t>ip</a:t>
            </a:r>
            <a:r>
              <a:rPr lang="en-IN" i="1" dirty="0"/>
              <a:t> a</a:t>
            </a:r>
            <a:r>
              <a:rPr lang="en-IN" dirty="0"/>
              <a:t> or </a:t>
            </a:r>
            <a:r>
              <a:rPr lang="en-IN" i="1" dirty="0" err="1"/>
              <a:t>ifconfig</a:t>
            </a:r>
            <a:r>
              <a:rPr lang="en-IN" dirty="0"/>
              <a:t> on the Ubuntu machine’s terminal</a:t>
            </a:r>
          </a:p>
          <a:p>
            <a:r>
              <a:rPr lang="en-US" dirty="0"/>
              <a:t>Connected to 192.168.0.24.</a:t>
            </a:r>
          </a:p>
          <a:p>
            <a:r>
              <a:rPr lang="en-US" dirty="0"/>
              <a:t>220 (</a:t>
            </a:r>
            <a:r>
              <a:rPr lang="en-US" dirty="0" err="1"/>
              <a:t>vsFTPd</a:t>
            </a:r>
            <a:r>
              <a:rPr lang="en-US" dirty="0"/>
              <a:t> 3.0.5)</a:t>
            </a:r>
          </a:p>
          <a:p>
            <a:r>
              <a:rPr lang="en-US" dirty="0"/>
              <a:t>200 Always in UTF8 mode.</a:t>
            </a:r>
          </a:p>
          <a:p>
            <a:r>
              <a:rPr lang="en-US" dirty="0"/>
              <a:t>User (192.168.0.24:(none)): </a:t>
            </a:r>
            <a:r>
              <a:rPr lang="en-US" dirty="0" err="1">
                <a:solidFill>
                  <a:srgbClr val="00B0F0"/>
                </a:solidFill>
              </a:rPr>
              <a:t>testuser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331 Please specify the password.</a:t>
            </a:r>
          </a:p>
          <a:p>
            <a:r>
              <a:rPr lang="en-US" dirty="0"/>
              <a:t>Password:</a:t>
            </a:r>
          </a:p>
          <a:p>
            <a:r>
              <a:rPr lang="en-US" dirty="0"/>
              <a:t>230 Login successful.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521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BAB7-188B-4292-A9D0-DF624751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the FTP Server from our Windows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72D9-5C38-99E4-F878-AC1C326A1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35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ftp&gt; </a:t>
            </a:r>
            <a:r>
              <a:rPr lang="en-US" dirty="0">
                <a:solidFill>
                  <a:srgbClr val="00B0F0"/>
                </a:solidFill>
              </a:rPr>
              <a:t>stat</a:t>
            </a:r>
          </a:p>
          <a:p>
            <a:r>
              <a:rPr lang="en-US" dirty="0"/>
              <a:t>Connected to 192.168.0.24.</a:t>
            </a:r>
          </a:p>
          <a:p>
            <a:r>
              <a:rPr lang="en-US" dirty="0"/>
              <a:t>Type: ascii; Verbose: On ; Bell: Off ; Prompting: On ; </a:t>
            </a:r>
            <a:r>
              <a:rPr lang="en-US" dirty="0" err="1"/>
              <a:t>Globbing</a:t>
            </a:r>
            <a:r>
              <a:rPr lang="en-US" dirty="0"/>
              <a:t>: On</a:t>
            </a:r>
          </a:p>
          <a:p>
            <a:r>
              <a:rPr lang="en-US" dirty="0"/>
              <a:t>Debugging: Off ; Hash mark printing: Off .</a:t>
            </a:r>
          </a:p>
          <a:p>
            <a:r>
              <a:rPr lang="en-US" dirty="0"/>
              <a:t>ftp&gt; </a:t>
            </a:r>
            <a:r>
              <a:rPr lang="en-US" dirty="0" err="1">
                <a:solidFill>
                  <a:srgbClr val="00B0F0"/>
                </a:solidFill>
              </a:rPr>
              <a:t>pwd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257 "/home/</a:t>
            </a:r>
            <a:r>
              <a:rPr lang="en-US" dirty="0" err="1"/>
              <a:t>testuser</a:t>
            </a:r>
            <a:r>
              <a:rPr lang="en-US" dirty="0"/>
              <a:t>" is the current directory</a:t>
            </a:r>
          </a:p>
          <a:p>
            <a:r>
              <a:rPr lang="en-US" dirty="0"/>
              <a:t>ftp&gt; </a:t>
            </a:r>
            <a:r>
              <a:rPr lang="en-US" dirty="0" err="1">
                <a:solidFill>
                  <a:srgbClr val="00B0F0"/>
                </a:solidFill>
              </a:rPr>
              <a:t>dir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894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1247-20FD-D786-D92D-022A3F6D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Checking for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04BBB-DF08-ADA4-42DA-229175772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file on the FTP server (i.e. Ubuntu machine)</a:t>
            </a:r>
          </a:p>
          <a:p>
            <a:r>
              <a:rPr lang="it-IT" dirty="0"/>
              <a:t>atul@atul-virtualbox:~$ </a:t>
            </a:r>
            <a:r>
              <a:rPr lang="it-IT" b="1" dirty="0"/>
              <a:t>sudo su</a:t>
            </a:r>
          </a:p>
          <a:p>
            <a:r>
              <a:rPr lang="it-IT" dirty="0"/>
              <a:t>root@atul-virtualbox:/home/atul# </a:t>
            </a:r>
            <a:r>
              <a:rPr lang="it-IT" b="1" dirty="0"/>
              <a:t>cd /home/testuser/</a:t>
            </a:r>
          </a:p>
          <a:p>
            <a:r>
              <a:rPr lang="it-IT" dirty="0"/>
              <a:t>root@atul-virtualbox:/home/testuser# </a:t>
            </a:r>
            <a:r>
              <a:rPr lang="it-IT" b="1" dirty="0"/>
              <a:t>nano test.txt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036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4733-CF3E-B30D-162D-8531ACC0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Now Check in Windows FTP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FED86-19D9-87AD-B91A-92258F09F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ftp&gt; </a:t>
            </a:r>
            <a:r>
              <a:rPr lang="en-IN" dirty="0" err="1">
                <a:solidFill>
                  <a:srgbClr val="00B0F0"/>
                </a:solidFill>
              </a:rPr>
              <a:t>pwd</a:t>
            </a:r>
            <a:endParaRPr lang="en-IN" dirty="0">
              <a:solidFill>
                <a:srgbClr val="00B0F0"/>
              </a:solidFill>
            </a:endParaRPr>
          </a:p>
          <a:p>
            <a:r>
              <a:rPr lang="en-IN" dirty="0"/>
              <a:t>257 "/home/</a:t>
            </a:r>
            <a:r>
              <a:rPr lang="en-IN" dirty="0" err="1"/>
              <a:t>testuser</a:t>
            </a:r>
            <a:r>
              <a:rPr lang="en-IN" dirty="0"/>
              <a:t>" is the current directory</a:t>
            </a:r>
          </a:p>
          <a:p>
            <a:r>
              <a:rPr lang="en-IN" dirty="0"/>
              <a:t>ftp&gt; </a:t>
            </a:r>
            <a:r>
              <a:rPr lang="en-IN" dirty="0" err="1">
                <a:solidFill>
                  <a:srgbClr val="00B0F0"/>
                </a:solidFill>
              </a:rPr>
              <a:t>dir</a:t>
            </a:r>
            <a:endParaRPr lang="en-IN" dirty="0">
              <a:solidFill>
                <a:srgbClr val="00B0F0"/>
              </a:solidFill>
            </a:endParaRPr>
          </a:p>
          <a:p>
            <a:r>
              <a:rPr lang="en-IN" dirty="0"/>
              <a:t>200 PORT command successful. Consider using PASV.</a:t>
            </a:r>
          </a:p>
          <a:p>
            <a:r>
              <a:rPr lang="en-IN" dirty="0"/>
              <a:t>150 Here comes the directory listing.</a:t>
            </a:r>
          </a:p>
          <a:p>
            <a:r>
              <a:rPr lang="en-IN" dirty="0"/>
              <a:t>-</a:t>
            </a:r>
            <a:r>
              <a:rPr lang="en-IN" dirty="0" err="1"/>
              <a:t>rw</a:t>
            </a:r>
            <a:r>
              <a:rPr lang="en-IN" dirty="0"/>
              <a:t>-r--r--    1 0        0              14 Mar 23 19:10 test.txt</a:t>
            </a:r>
          </a:p>
          <a:p>
            <a:r>
              <a:rPr lang="en-IN" dirty="0"/>
              <a:t>226 Directory send OK.</a:t>
            </a:r>
          </a:p>
          <a:p>
            <a:r>
              <a:rPr lang="en-IN" dirty="0"/>
              <a:t>ftp: 69 bytes received in 0.01Seconds 8.63Kbytes/sec.</a:t>
            </a:r>
          </a:p>
        </p:txBody>
      </p:sp>
    </p:spTree>
    <p:extLst>
      <p:ext uri="{BB962C8B-B14F-4D97-AF65-F5344CB8AC3E}">
        <p14:creationId xmlns:p14="http://schemas.microsoft.com/office/powerpoint/2010/main" val="532260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7235-DDCB-1EE3-D989-9D576201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a File using FTP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75852-7247-32B4-CDCC-F2BCAF9CA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ftp&gt; </a:t>
            </a:r>
            <a:r>
              <a:rPr lang="en-IN" dirty="0">
                <a:solidFill>
                  <a:srgbClr val="00B0F0"/>
                </a:solidFill>
              </a:rPr>
              <a:t>get test.txt</a:t>
            </a:r>
          </a:p>
          <a:p>
            <a:r>
              <a:rPr lang="en-IN" dirty="0"/>
              <a:t>200 PORT command successful. Consider using PASV.</a:t>
            </a:r>
          </a:p>
          <a:p>
            <a:r>
              <a:rPr lang="en-IN" dirty="0"/>
              <a:t>150 Opening BINARY mode data connection for test.txt (14 bytes).</a:t>
            </a:r>
          </a:p>
          <a:p>
            <a:r>
              <a:rPr lang="en-IN" dirty="0"/>
              <a:t>226 Transfer complete.</a:t>
            </a:r>
          </a:p>
          <a:p>
            <a:r>
              <a:rPr lang="en-IN" dirty="0"/>
              <a:t>ftp: 14 bytes received in 0.00Seconds 14000.00Kbytes/sec.</a:t>
            </a:r>
          </a:p>
        </p:txBody>
      </p:sp>
    </p:spTree>
    <p:extLst>
      <p:ext uri="{BB962C8B-B14F-4D97-AF65-F5344CB8AC3E}">
        <p14:creationId xmlns:p14="http://schemas.microsoft.com/office/powerpoint/2010/main" val="3064181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43EE-2D51-FAED-45E3-D37D7F17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Telnet and 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73C4C-A722-657D-00F5-C41EA000E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Telnet (Terminal + Network)</a:t>
            </a:r>
            <a:r>
              <a:rPr lang="en-IN" dirty="0"/>
              <a:t> is an Internet protocol for allowing a client computer to connect to a remote server computer and work on the server computer</a:t>
            </a:r>
          </a:p>
          <a:p>
            <a:r>
              <a:rPr lang="en-IN" dirty="0"/>
              <a:t>Somewhat obsolete (outdated)</a:t>
            </a:r>
          </a:p>
          <a:p>
            <a:r>
              <a:rPr lang="en-IN" dirty="0"/>
              <a:t>Now we generally use </a:t>
            </a:r>
            <a:r>
              <a:rPr lang="en-IN" b="1" dirty="0"/>
              <a:t>SSH (Secure Shell)</a:t>
            </a:r>
            <a:r>
              <a:rPr lang="en-IN" dirty="0"/>
              <a:t> instead of Telnet</a:t>
            </a:r>
          </a:p>
          <a:p>
            <a:r>
              <a:rPr lang="en-IN" dirty="0"/>
              <a:t>SSH also allows a remote client computer to connect to a server over the Internet</a:t>
            </a:r>
          </a:p>
          <a:p>
            <a:pPr lvl="1"/>
            <a:r>
              <a:rPr lang="en-IN" dirty="0"/>
              <a:t>Very useful in </a:t>
            </a:r>
            <a:r>
              <a:rPr lang="en-IN" b="1" dirty="0"/>
              <a:t>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839010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BFB9-1AF5-82B2-4CDC-6F28B645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Telnet Server on Ubuntu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54E5-C7E8-F180-C301-C02F8BEC4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Step 1: Install Telnet server</a:t>
            </a:r>
          </a:p>
          <a:p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telnetd</a:t>
            </a:r>
            <a:r>
              <a:rPr lang="en-IN" dirty="0"/>
              <a:t> -y</a:t>
            </a:r>
          </a:p>
          <a:p>
            <a:endParaRPr lang="en-IN" dirty="0"/>
          </a:p>
          <a:p>
            <a:r>
              <a:rPr lang="en-IN" dirty="0"/>
              <a:t>Step 2: Check the Telnet status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status </a:t>
            </a:r>
            <a:r>
              <a:rPr lang="en-IN" dirty="0" err="1"/>
              <a:t>inetd</a:t>
            </a:r>
            <a:endParaRPr lang="en-IN" dirty="0"/>
          </a:p>
          <a:p>
            <a:endParaRPr lang="en-IN" dirty="0"/>
          </a:p>
          <a:p>
            <a:r>
              <a:rPr lang="en-IN" dirty="0"/>
              <a:t>Step 3: Configure firewall for Telnet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ufw</a:t>
            </a:r>
            <a:r>
              <a:rPr lang="en-IN" dirty="0"/>
              <a:t> enable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ufw</a:t>
            </a:r>
            <a:r>
              <a:rPr lang="en-IN" dirty="0"/>
              <a:t> allow 23</a:t>
            </a:r>
          </a:p>
          <a:p>
            <a:endParaRPr lang="en-IN" dirty="0"/>
          </a:p>
          <a:p>
            <a:r>
              <a:rPr lang="en-IN" dirty="0"/>
              <a:t>Step 4: Test</a:t>
            </a:r>
          </a:p>
          <a:p>
            <a:r>
              <a:rPr lang="en-IN" dirty="0"/>
              <a:t>telnet 192.168.0.24</a:t>
            </a:r>
          </a:p>
        </p:txBody>
      </p:sp>
    </p:spTree>
    <p:extLst>
      <p:ext uri="{BB962C8B-B14F-4D97-AF65-F5344CB8AC3E}">
        <p14:creationId xmlns:p14="http://schemas.microsoft.com/office/powerpoint/2010/main" val="2668071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56AA-1A76-0786-17B1-EC7962D5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Telnet from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E15F8-1ED2-D516-B2D1-DC6A4C7A6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 the command prompt, type </a:t>
            </a:r>
            <a:r>
              <a:rPr lang="en-IN" dirty="0">
                <a:solidFill>
                  <a:srgbClr val="00B0F0"/>
                </a:solidFill>
              </a:rPr>
              <a:t>telnet</a:t>
            </a:r>
          </a:p>
          <a:p>
            <a:r>
              <a:rPr lang="en-IN" dirty="0"/>
              <a:t>If you get an error, search for </a:t>
            </a:r>
            <a:r>
              <a:rPr lang="en-IN" i="1" dirty="0"/>
              <a:t>Turn Windows Features On/Off</a:t>
            </a:r>
            <a:r>
              <a:rPr lang="en-IN" dirty="0"/>
              <a:t> and enable </a:t>
            </a:r>
            <a:r>
              <a:rPr lang="en-IN" i="1" dirty="0"/>
              <a:t>Telnet</a:t>
            </a:r>
            <a:r>
              <a:rPr lang="en-IN" dirty="0"/>
              <a:t> there, then retry </a:t>
            </a:r>
            <a:r>
              <a:rPr lang="en-IN" dirty="0">
                <a:solidFill>
                  <a:srgbClr val="00B0F0"/>
                </a:solidFill>
              </a:rPr>
              <a:t>telnet</a:t>
            </a:r>
          </a:p>
          <a:p>
            <a:r>
              <a:rPr lang="en-IN" dirty="0"/>
              <a:t>On the telnet prompt, </a:t>
            </a:r>
            <a:r>
              <a:rPr lang="en-IN" dirty="0">
                <a:solidFill>
                  <a:srgbClr val="00B0F0"/>
                </a:solidFill>
              </a:rPr>
              <a:t>o 192.168.0.24</a:t>
            </a:r>
          </a:p>
          <a:p>
            <a:r>
              <a:rPr lang="en-IN" dirty="0"/>
              <a:t>User id: </a:t>
            </a:r>
            <a:r>
              <a:rPr lang="en-IN" dirty="0" err="1"/>
              <a:t>testuser</a:t>
            </a:r>
            <a:r>
              <a:rPr lang="en-IN" dirty="0"/>
              <a:t>, Password: </a:t>
            </a:r>
            <a:r>
              <a:rPr lang="en-IN" dirty="0" err="1"/>
              <a:t>testuser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707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79FE-9546-C7EC-96FD-3D6968C5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SSH on Ubuntu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62E02-8598-F456-CC2C-BF6F56594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Step 1: Install SSH server</a:t>
            </a:r>
          </a:p>
          <a:p>
            <a:r>
              <a:rPr lang="en-IN" b="1" dirty="0" err="1"/>
              <a:t>sudo</a:t>
            </a:r>
            <a:r>
              <a:rPr lang="en-IN" b="1" dirty="0"/>
              <a:t> apt install </a:t>
            </a:r>
            <a:r>
              <a:rPr lang="en-IN" b="1" dirty="0" err="1"/>
              <a:t>openssh</a:t>
            </a:r>
            <a:r>
              <a:rPr lang="en-IN" b="1" dirty="0"/>
              <a:t>-server</a:t>
            </a:r>
          </a:p>
          <a:p>
            <a:endParaRPr lang="en-IN" dirty="0"/>
          </a:p>
          <a:p>
            <a:r>
              <a:rPr lang="en-IN" dirty="0"/>
              <a:t>Step 2: Check the SSH status</a:t>
            </a:r>
          </a:p>
          <a:p>
            <a:r>
              <a:rPr lang="en-IN" b="1" dirty="0" err="1"/>
              <a:t>sudo</a:t>
            </a:r>
            <a:r>
              <a:rPr lang="en-IN" b="1" dirty="0"/>
              <a:t> </a:t>
            </a:r>
            <a:r>
              <a:rPr lang="en-IN" b="1" dirty="0" err="1"/>
              <a:t>systemctl</a:t>
            </a:r>
            <a:r>
              <a:rPr lang="en-IN" b="1" dirty="0"/>
              <a:t> status </a:t>
            </a:r>
            <a:r>
              <a:rPr lang="en-IN" b="1" dirty="0" err="1"/>
              <a:t>ssh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Step 3: Configure firewall for SSH</a:t>
            </a:r>
          </a:p>
          <a:p>
            <a:r>
              <a:rPr lang="en-IN" b="1" dirty="0" err="1"/>
              <a:t>sudo</a:t>
            </a:r>
            <a:r>
              <a:rPr lang="en-IN" b="1" dirty="0"/>
              <a:t> </a:t>
            </a:r>
            <a:r>
              <a:rPr lang="en-IN" b="1" dirty="0" err="1"/>
              <a:t>ufw</a:t>
            </a:r>
            <a:r>
              <a:rPr lang="en-IN" b="1" dirty="0"/>
              <a:t> allow </a:t>
            </a:r>
            <a:r>
              <a:rPr lang="en-IN" b="1" dirty="0" err="1"/>
              <a:t>ssh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Step 4: Restart if necessary</a:t>
            </a:r>
          </a:p>
          <a:p>
            <a:r>
              <a:rPr lang="en-IN" b="1" dirty="0" err="1"/>
              <a:t>sudo</a:t>
            </a:r>
            <a:r>
              <a:rPr lang="en-IN" b="1" dirty="0"/>
              <a:t> service </a:t>
            </a:r>
            <a:r>
              <a:rPr lang="en-IN" b="1" dirty="0" err="1"/>
              <a:t>ssh</a:t>
            </a:r>
            <a:r>
              <a:rPr lang="en-IN" b="1" dirty="0"/>
              <a:t> restart</a:t>
            </a:r>
          </a:p>
        </p:txBody>
      </p:sp>
    </p:spTree>
    <p:extLst>
      <p:ext uri="{BB962C8B-B14F-4D97-AF65-F5344CB8AC3E}">
        <p14:creationId xmlns:p14="http://schemas.microsoft.com/office/powerpoint/2010/main" val="118469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BE04-979B-B9D9-B314-FBFBBFBF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SSH using Putty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E6448-C226-A30E-D576-78150AD9D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Download and install </a:t>
            </a:r>
            <a:r>
              <a:rPr lang="en-IN" b="1" dirty="0"/>
              <a:t>Putty</a:t>
            </a:r>
            <a:r>
              <a:rPr lang="en-IN" dirty="0"/>
              <a:t> (https://www.putty.org/)</a:t>
            </a:r>
          </a:p>
          <a:p>
            <a:r>
              <a:rPr lang="en-IN" dirty="0"/>
              <a:t>Open Putty, enter IP address as IP address of the Ubuntu server (e.g. </a:t>
            </a:r>
            <a:r>
              <a:rPr lang="en-IN"/>
              <a:t>192.168.0.24) </a:t>
            </a:r>
            <a:r>
              <a:rPr lang="en-IN" dirty="0"/>
              <a:t>and connect</a:t>
            </a:r>
          </a:p>
          <a:p>
            <a:r>
              <a:rPr lang="en-IN" dirty="0"/>
              <a:t>User id: </a:t>
            </a:r>
            <a:r>
              <a:rPr lang="en-IN" dirty="0" err="1"/>
              <a:t>testuser</a:t>
            </a:r>
            <a:r>
              <a:rPr lang="en-IN" dirty="0"/>
              <a:t>, Password: </a:t>
            </a:r>
            <a:r>
              <a:rPr lang="en-IN" dirty="0" err="1"/>
              <a:t>testuser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901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1722</Words>
  <Application>Microsoft Office PowerPoint</Application>
  <PresentationFormat>Widescreen</PresentationFormat>
  <Paragraphs>233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Shell Meta Characters </vt:lpstr>
      <vt:lpstr>Job Control</vt:lpstr>
      <vt:lpstr>Example</vt:lpstr>
      <vt:lpstr>History</vt:lpstr>
      <vt:lpstr>The chown command</vt:lpstr>
      <vt:lpstr>Assignment</vt:lpstr>
      <vt:lpstr>File Access Control List (ACL)</vt:lpstr>
      <vt:lpstr>Assignment</vt:lpstr>
      <vt:lpstr>The mount and unmount Commands</vt:lpstr>
      <vt:lpstr>The Global Regular Expression Print (grep) Command</vt:lpstr>
      <vt:lpstr>Common grep Options</vt:lpstr>
      <vt:lpstr>Examples</vt:lpstr>
      <vt:lpstr>find Command</vt:lpstr>
      <vt:lpstr>FTP, Telnet, etc</vt:lpstr>
      <vt:lpstr>FTP Concept</vt:lpstr>
      <vt:lpstr>FTP (File Transfer Protocol)</vt:lpstr>
      <vt:lpstr>Setting up FTP Server on Ubuntu (on VirtualBox)</vt:lpstr>
      <vt:lpstr>Setting up FTP Server on Ubuntu</vt:lpstr>
      <vt:lpstr>Accessing the FTP Server from our Windows Machine</vt:lpstr>
      <vt:lpstr>Accessing the FTP Server from our Windows Machine</vt:lpstr>
      <vt:lpstr>Checking for Files</vt:lpstr>
      <vt:lpstr>Now Check in Windows FTP Client</vt:lpstr>
      <vt:lpstr>Download a File using FTP</vt:lpstr>
      <vt:lpstr>Telnet and SSH</vt:lpstr>
      <vt:lpstr>Setting up Telnet Server on Ubuntu</vt:lpstr>
      <vt:lpstr>Accessing Telnet from Windows</vt:lpstr>
      <vt:lpstr>Setting up SSH on Ubuntu Server</vt:lpstr>
      <vt:lpstr>Access SSH using Putty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</cp:revision>
  <dcterms:created xsi:type="dcterms:W3CDTF">2026-03-05T05:13:11Z</dcterms:created>
  <dcterms:modified xsi:type="dcterms:W3CDTF">2026-03-05T06:35:46Z</dcterms:modified>
</cp:coreProperties>
</file>